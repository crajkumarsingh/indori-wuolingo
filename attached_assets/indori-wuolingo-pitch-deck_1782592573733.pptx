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F46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92440" y="0"/>
            <a:ext cx="4096512" cy="685800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49640" y="502920"/>
            <a:ext cx="3017520" cy="1965960"/>
          </a:xfrm>
          <a:prstGeom prst="rect">
            <a:avLst/>
          </a:prstGeom>
          <a:solidFill>
            <a:srgbClr val="22C55E">
              <a:alpha val="92000"/>
            </a:srgbClr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52360" y="4160520"/>
            <a:ext cx="4206240" cy="2011680"/>
          </a:xfrm>
          <a:prstGeom prst="rect">
            <a:avLst/>
          </a:prstGeom>
          <a:solidFill>
            <a:srgbClr val="E0E7FF">
              <a:alpha val="92000"/>
            </a:srgbClr>
          </a:solidFill>
          <a:ln w="12700">
            <a:solidFill>
              <a:srgbClr val="E0E7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82296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INDORI-WUOLINGO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37160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Build the language platform India is missing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41248" y="3063240"/>
            <a:ext cx="4754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3" dirty="0">
                <a:solidFill>
                  <a:srgbClr val="E0E7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 mobile-first Indian language learning company with a path from consumer habit loops to enterprise-ready language deployment.</a:t>
            </a:r>
            <a:endParaRPr lang="en-US" sz="1283" dirty="0"/>
          </a:p>
        </p:txBody>
      </p:sp>
      <p:sp>
        <p:nvSpPr>
          <p:cNvPr id="8" name="Shape 6"/>
          <p:cNvSpPr/>
          <p:nvPr/>
        </p:nvSpPr>
        <p:spPr>
          <a:xfrm>
            <a:off x="841248" y="4754880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480974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1B5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Consumer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395728" y="475488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95728" y="4809744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Enterprise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005072" y="4754880"/>
            <a:ext cx="2084832" cy="292608"/>
          </a:xfrm>
          <a:prstGeom prst="roundRect">
            <a:avLst>
              <a:gd name="adj" fmla="val 25000"/>
            </a:avLst>
          </a:prstGeom>
          <a:solidFill>
            <a:srgbClr val="1F1B5E"/>
          </a:solidFill>
          <a:ln w="12700">
            <a:solidFill>
              <a:srgbClr val="1F1B5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05072" y="4809744"/>
            <a:ext cx="2084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Gujarati ↔ Hindi pilot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41248" y="59893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7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Founder / investor deck</a:t>
            </a:r>
            <a:endParaRPr lang="en-US" sz="1000" dirty="0"/>
          </a:p>
        </p:txBody>
      </p:sp>
      <p:sp>
        <p:nvSpPr>
          <p:cNvPr id="15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56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51560" y="29260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AGENDA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1560" y="566928"/>
            <a:ext cx="6903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12E8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Story Flow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68680" y="1417320"/>
            <a:ext cx="1024128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34440" y="1783080"/>
            <a:ext cx="438912" cy="310896"/>
          </a:xfrm>
          <a:prstGeom prst="roundRect">
            <a:avLst>
              <a:gd name="adj" fmla="val 23529"/>
            </a:avLst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74520" y="177393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12E8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1. Market gap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537960" y="1929384"/>
            <a:ext cx="3246120" cy="0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34440" y="2496312"/>
            <a:ext cx="438912" cy="310896"/>
          </a:xfrm>
          <a:prstGeom prst="roundRect">
            <a:avLst>
              <a:gd name="adj" fmla="val 23529"/>
            </a:avLst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74520" y="248716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12E8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2. Focused wedge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537960" y="2642616"/>
            <a:ext cx="3246120" cy="0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34440" y="3209544"/>
            <a:ext cx="438912" cy="310896"/>
          </a:xfrm>
          <a:prstGeom prst="roundRect">
            <a:avLst>
              <a:gd name="adj" fmla="val 23529"/>
            </a:avLst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74520" y="32004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12E8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3. Product architecture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537960" y="3355848"/>
            <a:ext cx="3246120" cy="0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34440" y="3922776"/>
            <a:ext cx="438912" cy="310896"/>
          </a:xfrm>
          <a:prstGeom prst="roundRect">
            <a:avLst>
              <a:gd name="adj" fmla="val 23529"/>
            </a:avLst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74520" y="391363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12E8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4. Revenue model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537960" y="4069080"/>
            <a:ext cx="3246120" cy="0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34440" y="4636008"/>
            <a:ext cx="438912" cy="310896"/>
          </a:xfrm>
          <a:prstGeom prst="roundRect">
            <a:avLst>
              <a:gd name="adj" fmla="val 23529"/>
            </a:avLst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74520" y="462686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12E8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5. Roadmap and case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537960" y="4782312"/>
            <a:ext cx="3246120" cy="0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1847088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12E8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The deck moves from a clear market gap to a disciplined go-to-market wedge, then shows why the platform can scale.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784080" y="64465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F46E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Indori-Wuolingo</a:t>
            </a:r>
            <a:endParaRPr lang="en-US" sz="800" dirty="0"/>
          </a:p>
        </p:txBody>
      </p:sp>
      <p:sp>
        <p:nvSpPr>
          <p:cNvPr id="24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56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51560" y="29260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PROBLEM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1560" y="566928"/>
            <a:ext cx="6903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12E8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Indian language learning is still underserved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68680" y="1600200"/>
            <a:ext cx="3383280" cy="36118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2700" dist="50800" dir="2700000">
              <a:srgbClr val="BFC7FF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69848" y="1764792"/>
            <a:ext cx="2980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12E8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Global apps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69848" y="2167128"/>
            <a:ext cx="2980944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96" dirty="0">
                <a:solidFill>
                  <a:srgbClr val="312E8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Broad language catalogs, but limited Indian-language depth, weak regional context, and little support for practical state-to-state learning.</a:t>
            </a:r>
            <a:endParaRPr lang="en-US" sz="1496" dirty="0"/>
          </a:p>
        </p:txBody>
      </p:sp>
      <p:sp>
        <p:nvSpPr>
          <p:cNvPr id="9" name="Shape 7"/>
          <p:cNvSpPr/>
          <p:nvPr/>
        </p:nvSpPr>
        <p:spPr>
          <a:xfrm>
            <a:off x="4407408" y="1600200"/>
            <a:ext cx="3383280" cy="36118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2700" dist="50800" dir="2700000">
              <a:srgbClr val="BFC7FF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08576" y="1764792"/>
            <a:ext cx="2980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12E8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Offline and fragmented options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08576" y="2167128"/>
            <a:ext cx="2980944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96" dirty="0">
                <a:solidFill>
                  <a:srgbClr val="312E8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Tutors, textbooks, videos, and community content exist, but they rarely create daily habit loops or track measurable progress.</a:t>
            </a:r>
            <a:endParaRPr lang="en-US" sz="1496" dirty="0"/>
          </a:p>
        </p:txBody>
      </p:sp>
      <p:sp>
        <p:nvSpPr>
          <p:cNvPr id="12" name="Shape 10"/>
          <p:cNvSpPr/>
          <p:nvPr/>
        </p:nvSpPr>
        <p:spPr>
          <a:xfrm>
            <a:off x="7946136" y="1600200"/>
            <a:ext cx="3383280" cy="36118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2700" dist="50800" dir="2700000">
              <a:srgbClr val="BFC7FF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147304" y="1764792"/>
            <a:ext cx="2980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12E8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Institutional gap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147304" y="2167128"/>
            <a:ext cx="2980944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96" dirty="0">
                <a:solidFill>
                  <a:srgbClr val="312E8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Schools and employers need assignments, reporting, and admin control, yet most language tools were not designed for deployment across cohorts.</a:t>
            </a:r>
            <a:endParaRPr lang="en-US" sz="1496" dirty="0"/>
          </a:p>
        </p:txBody>
      </p:sp>
      <p:sp>
        <p:nvSpPr>
          <p:cNvPr id="15" name="Shape 13"/>
          <p:cNvSpPr/>
          <p:nvPr/>
        </p:nvSpPr>
        <p:spPr>
          <a:xfrm>
            <a:off x="886968" y="5623560"/>
            <a:ext cx="4389120" cy="292608"/>
          </a:xfrm>
          <a:prstGeom prst="roundRect">
            <a:avLst>
              <a:gd name="adj" fmla="val 25000"/>
            </a:avLst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6968" y="5678424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Gap = utility + engagement + deployment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784080" y="64465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F46E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Indori-Wuolingo</a:t>
            </a:r>
            <a:endParaRPr lang="en-US" sz="800" dirty="0"/>
          </a:p>
        </p:txBody>
      </p:sp>
      <p:sp>
        <p:nvSpPr>
          <p:cNvPr id="18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56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51560" y="29260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FOCUSED WEDGE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1560" y="566928"/>
            <a:ext cx="6903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12E8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Start narrow, then scale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68680" y="1600200"/>
            <a:ext cx="4983480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2700" dist="50800" dir="2700000">
              <a:srgbClr val="BFC7FF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69848" y="1764792"/>
            <a:ext cx="4581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12E8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Phase-one wedge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69848" y="2167128"/>
            <a:ext cx="4581144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96" dirty="0">
                <a:solidFill>
                  <a:srgbClr val="312E8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Do not launch all Indian languages at once. Start with one or two high-demand pairs, short phrase-first lessons, and a strong review loop that proves repeat behavior.</a:t>
            </a:r>
            <a:endParaRPr lang="en-US" sz="1496" dirty="0"/>
          </a:p>
        </p:txBody>
      </p:sp>
      <p:sp>
        <p:nvSpPr>
          <p:cNvPr id="9" name="Shape 7"/>
          <p:cNvSpPr/>
          <p:nvPr/>
        </p:nvSpPr>
        <p:spPr>
          <a:xfrm>
            <a:off x="6062472" y="1600200"/>
            <a:ext cx="5257800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2700" dist="50800" dir="2700000">
              <a:srgbClr val="BFC7FF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63640" y="1764792"/>
            <a:ext cx="4855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12E8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Gujarati ↔ Hindi pilot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263640" y="2167128"/>
            <a:ext cx="4855464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96" dirty="0">
                <a:solidFill>
                  <a:srgbClr val="312E8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 practical regional branch with strong real-world overlap across migration, commerce, education, and daily conversation. Small enough to ship fast, useful enough to test product-market fit.</a:t>
            </a:r>
            <a:endParaRPr lang="en-US" sz="1496" dirty="0"/>
          </a:p>
        </p:txBody>
      </p:sp>
      <p:sp>
        <p:nvSpPr>
          <p:cNvPr id="12" name="Text 10"/>
          <p:cNvSpPr/>
          <p:nvPr/>
        </p:nvSpPr>
        <p:spPr>
          <a:xfrm>
            <a:off x="9784080" y="64465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F46E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Indori-Wuolingo</a:t>
            </a:r>
            <a:endParaRPr lang="en-US" sz="800" dirty="0"/>
          </a:p>
        </p:txBody>
      </p:sp>
      <p:sp>
        <p:nvSpPr>
          <p:cNvPr id="13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56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51560" y="29260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SOLUTION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1560" y="566928"/>
            <a:ext cx="6903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12E8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The product has two engines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14400" y="1691640"/>
            <a:ext cx="448056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20840" y="1691640"/>
            <a:ext cx="448056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1965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Learner engine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2468880"/>
            <a:ext cx="30175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12E8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Short lessons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12E8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Spaced repetition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12E8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Audio and speaking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12E8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XP and streaks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12E8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Clear progress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995160" y="1965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Enterprise engine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995160" y="2468880"/>
            <a:ext cx="32004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12E8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Tenant setup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12E8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Cohorts and assignments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12E8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Admin reporting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12E8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Content controls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12E8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Audit-ready workflows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0" y="2971800"/>
            <a:ext cx="502920" cy="685800"/>
          </a:xfrm>
          <a:prstGeom prst="chevron">
            <a:avLst/>
          </a:prstGeom>
          <a:solidFill>
            <a:srgbClr val="818CF8"/>
          </a:solidFill>
          <a:ln w="12700">
            <a:solidFill>
              <a:srgbClr val="818CF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11880" y="5669280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12E8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One shared content and progress layer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784080" y="64465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F46E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Indori-Wuolingo</a:t>
            </a:r>
            <a:endParaRPr lang="en-US" sz="800" dirty="0"/>
          </a:p>
        </p:txBody>
      </p:sp>
      <p:sp>
        <p:nvSpPr>
          <p:cNvPr id="15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56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51560" y="29260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PLATFORM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1560" y="566928"/>
            <a:ext cx="6903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12E8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Enterprise is a natural expansion layer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14400" y="2011680"/>
            <a:ext cx="2103120" cy="24231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2128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12E8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Learner app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51560" y="2615184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312E8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Mobile-first learning, review loops, streaks, and daily progress.</a:t>
            </a:r>
            <a:endParaRPr lang="en-US" sz="1195" dirty="0"/>
          </a:p>
        </p:txBody>
      </p:sp>
      <p:sp>
        <p:nvSpPr>
          <p:cNvPr id="9" name="Shape 7"/>
          <p:cNvSpPr/>
          <p:nvPr/>
        </p:nvSpPr>
        <p:spPr>
          <a:xfrm>
            <a:off x="3749040" y="2011680"/>
            <a:ext cx="2103120" cy="2423160"/>
          </a:xfrm>
          <a:prstGeom prst="roundRect">
            <a:avLst>
              <a:gd name="adj" fmla="val 3478"/>
            </a:avLst>
          </a:prstGeom>
          <a:solidFill>
            <a:srgbClr val="E0E7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86200" y="22128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12E8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Admin portal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886200" y="2615184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312E8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Organizations, cohorts, assignments, dashboards, exports.</a:t>
            </a:r>
            <a:endParaRPr lang="en-US" sz="1195" dirty="0"/>
          </a:p>
        </p:txBody>
      </p:sp>
      <p:sp>
        <p:nvSpPr>
          <p:cNvPr id="12" name="Shape 10"/>
          <p:cNvSpPr/>
          <p:nvPr/>
        </p:nvSpPr>
        <p:spPr>
          <a:xfrm>
            <a:off x="6583680" y="2011680"/>
            <a:ext cx="2103120" cy="24231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22128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12E8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Content studio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720840" y="2615184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312E8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Authoring, audio assets, publishing, rollback, quality review.</a:t>
            </a:r>
            <a:endParaRPr lang="en-US" sz="1195" dirty="0"/>
          </a:p>
        </p:txBody>
      </p:sp>
      <p:sp>
        <p:nvSpPr>
          <p:cNvPr id="15" name="Shape 13"/>
          <p:cNvSpPr/>
          <p:nvPr/>
        </p:nvSpPr>
        <p:spPr>
          <a:xfrm>
            <a:off x="9418320" y="2011680"/>
            <a:ext cx="2103120" cy="2423160"/>
          </a:xfrm>
          <a:prstGeom prst="roundRect">
            <a:avLst>
              <a:gd name="adj" fmla="val 3478"/>
            </a:avLst>
          </a:prstGeom>
          <a:solidFill>
            <a:srgbClr val="E0E7FF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55480" y="22128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12E8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Platform services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555480" y="2615184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312E8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Identity, progress, reporting, notifications, audit.</a:t>
            </a:r>
            <a:endParaRPr lang="en-US" sz="1195" dirty="0"/>
          </a:p>
        </p:txBody>
      </p:sp>
      <p:sp>
        <p:nvSpPr>
          <p:cNvPr id="18" name="Shape 16"/>
          <p:cNvSpPr/>
          <p:nvPr/>
        </p:nvSpPr>
        <p:spPr>
          <a:xfrm>
            <a:off x="1965960" y="4828032"/>
            <a:ext cx="8183880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502920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12E8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Start with a small school or employer pilot, not a full enterprise stack on day one.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784080" y="64465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F46E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Indori-Wuolingo</a:t>
            </a:r>
            <a:endParaRPr lang="en-US" sz="800" dirty="0"/>
          </a:p>
        </p:txBody>
      </p:sp>
      <p:sp>
        <p:nvSpPr>
          <p:cNvPr id="21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56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51560" y="29260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BUSINESS MODEL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1560" y="566928"/>
            <a:ext cx="6903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12E8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Revenue comes from two channels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14400" y="1691640"/>
            <a:ext cx="470916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2700" dist="50800" dir="2700000">
              <a:srgbClr val="BFC7FF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15568" y="1856232"/>
            <a:ext cx="4306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12E8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Consumer revenue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15568" y="2258568"/>
            <a:ext cx="4306824" cy="3227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96" dirty="0">
                <a:solidFill>
                  <a:srgbClr val="312E8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Monthly or annual subscriptions for unlimited study, advanced review, deeper audio practice, and better speaking feedback.</a:t>
            </a:r>
            <a:endParaRPr lang="en-US" sz="1496" dirty="0"/>
          </a:p>
        </p:txBody>
      </p:sp>
      <p:sp>
        <p:nvSpPr>
          <p:cNvPr id="9" name="Shape 7"/>
          <p:cNvSpPr/>
          <p:nvPr/>
        </p:nvSpPr>
        <p:spPr>
          <a:xfrm>
            <a:off x="6537960" y="1691640"/>
            <a:ext cx="470916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" dist="50800" dir="2700000">
              <a:srgbClr val="BFC7FF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739128" y="1856232"/>
            <a:ext cx="4306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12E8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Institutional revenue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739128" y="2258568"/>
            <a:ext cx="4306824" cy="3227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96" dirty="0">
                <a:solidFill>
                  <a:srgbClr val="312E8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Licenses for schools, employers, and public programs with seat management, assignments, dashboards, exports, and onboarding support.</a:t>
            </a:r>
            <a:endParaRPr lang="en-US" sz="1496" dirty="0"/>
          </a:p>
        </p:txBody>
      </p:sp>
      <p:sp>
        <p:nvSpPr>
          <p:cNvPr id="12" name="Shape 10"/>
          <p:cNvSpPr/>
          <p:nvPr/>
        </p:nvSpPr>
        <p:spPr>
          <a:xfrm>
            <a:off x="5806440" y="1965960"/>
            <a:ext cx="0" cy="3337560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84080" y="64465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F46E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Indori-Wuolingo</a:t>
            </a:r>
            <a:endParaRPr lang="en-US" sz="800" dirty="0"/>
          </a:p>
        </p:txBody>
      </p:sp>
      <p:sp>
        <p:nvSpPr>
          <p:cNvPr id="14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56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51560" y="29260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METRICS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1560" y="566928"/>
            <a:ext cx="6903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12E8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What to measure early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60120" y="1828800"/>
            <a:ext cx="21488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4712" y="1993392"/>
            <a:ext cx="1819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46E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24712" y="2377440"/>
            <a:ext cx="1819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12E8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Activation into first lesson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37560" y="1828800"/>
            <a:ext cx="21488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02152" y="1993392"/>
            <a:ext cx="1819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02152" y="2377440"/>
            <a:ext cx="1819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12E8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First-week lesson completion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715000" y="1828800"/>
            <a:ext cx="21488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79592" y="1993392"/>
            <a:ext cx="1819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46E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R1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879592" y="2377440"/>
            <a:ext cx="1819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12E8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Review return rate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092440" y="1828800"/>
            <a:ext cx="21488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57032" y="1993392"/>
            <a:ext cx="1819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V1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257032" y="2377440"/>
            <a:ext cx="1819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12E8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Content production velocity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60120" y="3703320"/>
            <a:ext cx="92811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88720" y="4005072"/>
            <a:ext cx="8823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12E8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 the first year, the company does not need a giant KPI stack. It needs a few clear signals that users start, finish, come back, and that the team can ship new language content without breaking quality.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784080" y="64465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F46E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Indori-Wuolingo</a:t>
            </a:r>
            <a:endParaRPr lang="en-US" sz="800" dirty="0"/>
          </a:p>
        </p:txBody>
      </p:sp>
      <p:sp>
        <p:nvSpPr>
          <p:cNvPr id="21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56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51560" y="29260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ROADMAP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1560" y="566928"/>
            <a:ext cx="6903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12E8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24-month path to repeatability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60120" y="2057400"/>
            <a:ext cx="2194560" cy="2697480"/>
          </a:xfrm>
          <a:prstGeom prst="roundRect">
            <a:avLst>
              <a:gd name="adj" fmla="val 3333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4712" y="2286000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0-6 months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24712" y="2697480"/>
            <a:ext cx="18653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97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Ship the first learner wedge and prove repeat study behavior.</a:t>
            </a:r>
            <a:endParaRPr lang="en-US" sz="1197" dirty="0"/>
          </a:p>
        </p:txBody>
      </p:sp>
      <p:sp>
        <p:nvSpPr>
          <p:cNvPr id="9" name="Shape 7"/>
          <p:cNvSpPr/>
          <p:nvPr/>
        </p:nvSpPr>
        <p:spPr>
          <a:xfrm>
            <a:off x="3429000" y="2057400"/>
            <a:ext cx="2194560" cy="2697480"/>
          </a:xfrm>
          <a:prstGeom prst="roundRect">
            <a:avLst>
              <a:gd name="adj" fmla="val 3333"/>
            </a:avLst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93592" y="2286000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6-12 months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93592" y="2697480"/>
            <a:ext cx="18653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97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Stabilize content operations and launch controlled pilots.</a:t>
            </a:r>
            <a:endParaRPr lang="en-US" sz="1197" dirty="0"/>
          </a:p>
        </p:txBody>
      </p:sp>
      <p:sp>
        <p:nvSpPr>
          <p:cNvPr id="12" name="Shape 10"/>
          <p:cNvSpPr/>
          <p:nvPr/>
        </p:nvSpPr>
        <p:spPr>
          <a:xfrm>
            <a:off x="5897880" y="2057400"/>
            <a:ext cx="2194560" cy="2697480"/>
          </a:xfrm>
          <a:prstGeom prst="roundRect">
            <a:avLst>
              <a:gd name="adj" fmla="val 3333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62472" y="2286000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12-18 months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62472" y="2697480"/>
            <a:ext cx="18653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97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Add assignments, reporting, and enterprise basics.</a:t>
            </a:r>
            <a:endParaRPr lang="en-US" sz="1197" dirty="0"/>
          </a:p>
        </p:txBody>
      </p:sp>
      <p:sp>
        <p:nvSpPr>
          <p:cNvPr id="15" name="Shape 13"/>
          <p:cNvSpPr/>
          <p:nvPr/>
        </p:nvSpPr>
        <p:spPr>
          <a:xfrm>
            <a:off x="8366760" y="2057400"/>
            <a:ext cx="2194560" cy="2697480"/>
          </a:xfrm>
          <a:prstGeom prst="roundRect">
            <a:avLst>
              <a:gd name="adj" fmla="val 3333"/>
            </a:avLst>
          </a:prstGeom>
          <a:solidFill>
            <a:srgbClr val="1F1B5E"/>
          </a:solidFill>
          <a:ln w="12700">
            <a:solidFill>
              <a:srgbClr val="1F1B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31352" y="2286000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18-24 months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31352" y="2697480"/>
            <a:ext cx="18653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97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Close repeatable accounts and expand language pairs.</a:t>
            </a:r>
            <a:endParaRPr lang="en-US" sz="1197" dirty="0"/>
          </a:p>
        </p:txBody>
      </p:sp>
      <p:sp>
        <p:nvSpPr>
          <p:cNvPr id="18" name="Text 16"/>
          <p:cNvSpPr/>
          <p:nvPr/>
        </p:nvSpPr>
        <p:spPr>
          <a:xfrm>
            <a:off x="1280160" y="5212080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12E8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The discipline is simple: prove the learner loop first, then earn the complexity of enterprise.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784080" y="64465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F46E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Indori-Wuolingo</a:t>
            </a:r>
            <a:endParaRPr lang="en-US" sz="800" dirty="0"/>
          </a:p>
        </p:txBody>
      </p:sp>
      <p:sp>
        <p:nvSpPr>
          <p:cNvPr id="20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56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51560" y="29260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INVESTMENT CASE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1560" y="566928"/>
            <a:ext cx="6903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12E8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Why this can become durable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14400" y="1965960"/>
            <a:ext cx="2331720" cy="283464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2331720"/>
            <a:ext cx="20025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97" b="1" dirty="0">
                <a:solidFill>
                  <a:srgbClr val="312E8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Reusable language-pair content model</a:t>
            </a:r>
            <a:endParaRPr lang="en-US" sz="1597" dirty="0"/>
          </a:p>
        </p:txBody>
      </p:sp>
      <p:sp>
        <p:nvSpPr>
          <p:cNvPr id="8" name="Shape 6"/>
          <p:cNvSpPr/>
          <p:nvPr/>
        </p:nvSpPr>
        <p:spPr>
          <a:xfrm>
            <a:off x="3685032" y="1965960"/>
            <a:ext cx="2331720" cy="283464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9624" y="2331720"/>
            <a:ext cx="20025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97" b="1" dirty="0">
                <a:solidFill>
                  <a:srgbClr val="312E8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Audio and transliteration layer</a:t>
            </a:r>
            <a:endParaRPr lang="en-US" sz="1597" dirty="0"/>
          </a:p>
        </p:txBody>
      </p:sp>
      <p:sp>
        <p:nvSpPr>
          <p:cNvPr id="10" name="Shape 8"/>
          <p:cNvSpPr/>
          <p:nvPr/>
        </p:nvSpPr>
        <p:spPr>
          <a:xfrm>
            <a:off x="6455664" y="1965960"/>
            <a:ext cx="2331720" cy="283464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20256" y="2331720"/>
            <a:ext cx="20025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97" b="1" dirty="0">
                <a:solidFill>
                  <a:srgbClr val="312E8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Review and mastery engine</a:t>
            </a:r>
            <a:endParaRPr lang="en-US" sz="1597" dirty="0"/>
          </a:p>
        </p:txBody>
      </p:sp>
      <p:sp>
        <p:nvSpPr>
          <p:cNvPr id="12" name="Shape 10"/>
          <p:cNvSpPr/>
          <p:nvPr/>
        </p:nvSpPr>
        <p:spPr>
          <a:xfrm>
            <a:off x="9226296" y="1965960"/>
            <a:ext cx="2331720" cy="283464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90888" y="2331720"/>
            <a:ext cx="20025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97" b="1" dirty="0">
                <a:solidFill>
                  <a:srgbClr val="312E8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Enterprise admin and reporting workflows</a:t>
            </a:r>
            <a:endParaRPr lang="en-US" sz="1597" dirty="0"/>
          </a:p>
        </p:txBody>
      </p:sp>
      <p:sp>
        <p:nvSpPr>
          <p:cNvPr id="14" name="Text 12"/>
          <p:cNvSpPr/>
          <p:nvPr/>
        </p:nvSpPr>
        <p:spPr>
          <a:xfrm>
            <a:off x="1097280" y="5212080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12E8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Defensibility comes from the system behind the lessons, not from a thin app shell alone.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784080" y="64465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F46E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Indori-Wuolingo</a:t>
            </a:r>
            <a:endParaRPr lang="en-US" sz="800" dirty="0"/>
          </a:p>
        </p:txBody>
      </p:sp>
      <p:sp>
        <p:nvSpPr>
          <p:cNvPr id="16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1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0"/>
            <a:ext cx="3593592" cy="6858000"/>
          </a:xfrm>
          <a:prstGeom prst="rect">
            <a:avLst/>
          </a:prstGeom>
          <a:solidFill>
            <a:srgbClr val="22C55E">
              <a:alpha val="95000"/>
            </a:srgbClr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160020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Build the language platform India is missing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86968" y="2971800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Start with one wedge, prove repeat learning, then scale into a durable consumer and enterprise language platform.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96112" y="4800600"/>
            <a:ext cx="2331720" cy="292608"/>
          </a:xfrm>
          <a:prstGeom prst="roundRect">
            <a:avLst>
              <a:gd name="adj" fmla="val 25000"/>
            </a:avLst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4855464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1B5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Indori-Wuolingo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96112" y="557784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7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Founder / investor deck</a:t>
            </a:r>
            <a:endParaRPr lang="en-US" sz="1000" dirty="0"/>
          </a:p>
        </p:txBody>
      </p:sp>
      <p:sp>
        <p:nvSpPr>
          <p:cNvPr id="8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iberation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iberation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TRAE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Indori-Wuolingo Pitch Deck</dc:title>
  <dc:subject>Indori-Wuolingo pitch deck</dc:subject>
  <dc:creator>TRAE</dc:creator>
  <cp:lastModifiedBy>TRAE</cp:lastModifiedBy>
  <cp:revision>1</cp:revision>
  <dcterms:created xsi:type="dcterms:W3CDTF">2026-06-27T12:27:27Z</dcterms:created>
  <dcterms:modified xsi:type="dcterms:W3CDTF">2026-06-27T12:27:27Z</dcterms:modified>
</cp:coreProperties>
</file>